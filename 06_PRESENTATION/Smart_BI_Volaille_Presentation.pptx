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c+3ew8gmq2CDAAoR8qEXovsKp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1D7E50-7D38-45A1-ADB6-44B27BF939E2}">
  <a:tblStyle styleId="{5C1D7E50-7D38-45A1-ADB6-44B27BF939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CONTEXTE ET OBJECTIF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Smart BI Volaille : piloter le marché avicole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12801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Le besoin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48640" y="1645920"/>
            <a:ext cx="4114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Agreste publie chaque mois les chiffres de la volaille en PDF et Excel : difficiles à suivre dans le temps et à partager.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Objectif : une chaîne BI complète, automatisée et fiable, sans ressaisie, relançable à chaque publication.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 sujets suivis : abattages, prix à la production (IPPAP), consommation.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Périmètre : France, janvier 2025 à juillet 2026. Données publiques, projet personnel.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0" y="1325880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5120640" y="1399032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53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8553D"/>
                </a:solidFill>
                <a:latin typeface="Georgia"/>
                <a:ea typeface="Georgia"/>
                <a:cs typeface="Georgia"/>
                <a:sym typeface="Georgia"/>
              </a:rPr>
              <a:t>-1,6 %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120640" y="2080260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abattages, juillet 2026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903720" y="1325880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995160" y="1399032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+2,2 %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6995160" y="2080260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prix à la production, juillet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29200" y="2834640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5120640" y="2907792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+3,9 %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120640" y="3589020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consommation, juin 2026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903720" y="2834640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6995160" y="2907792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A8892B"/>
                </a:solidFill>
                <a:latin typeface="Georgia"/>
                <a:ea typeface="Georgia"/>
                <a:cs typeface="Georgia"/>
                <a:sym typeface="Georgia"/>
              </a:rPr>
              <a:t>10 scripts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6995160" y="3589020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 la donnée brute au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COMMENT J’AI RÉALISÉ LE PROJET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Architecture : 5 étapes, un outil par étape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280160"/>
            <a:ext cx="148132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8368" y="1389888"/>
            <a:ext cx="365760" cy="365760"/>
          </a:xfrm>
          <a:prstGeom prst="ellipse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658368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58368" y="1828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58368" y="2148840"/>
            <a:ext cx="1261872" cy="256032"/>
          </a:xfrm>
          <a:prstGeom prst="roundRect">
            <a:avLst>
              <a:gd fmla="val 17857" name="adj"/>
            </a:avLst>
          </a:prstGeom>
          <a:solidFill>
            <a:srgbClr val="EFE8CF"/>
          </a:solidFill>
          <a:ln cap="flat" cmpd="sng" w="12700">
            <a:solidFill>
              <a:srgbClr val="EFE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658368" y="21488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alibri"/>
                <a:ea typeface="Calibri"/>
                <a:cs typeface="Calibri"/>
                <a:sym typeface="Calibri"/>
              </a:rPr>
              <a:t>Python + pandas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58368" y="2514600"/>
            <a:ext cx="1280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Lecture des onglets Excel, mise en format long (1 ligne = 1 mois).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176272" y="1280160"/>
            <a:ext cx="148132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286000" y="1389888"/>
            <a:ext cx="365760" cy="365760"/>
          </a:xfrm>
          <a:prstGeom prst="ellipse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2286000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286000" y="1828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Contrôles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286000" y="2148840"/>
            <a:ext cx="1261872" cy="256032"/>
          </a:xfrm>
          <a:prstGeom prst="roundRect">
            <a:avLst>
              <a:gd fmla="val 17857" name="adj"/>
            </a:avLst>
          </a:prstGeom>
          <a:solidFill>
            <a:srgbClr val="EFE8CF"/>
          </a:solidFill>
          <a:ln cap="flat" cmpd="sng" w="12700">
            <a:solidFill>
              <a:srgbClr val="EFE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2286000" y="21488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286000" y="2514600"/>
            <a:ext cx="1280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Doublons, valeurs manquantes, dates cohérentes, volumes positifs.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803904" y="1280160"/>
            <a:ext cx="148132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913632" y="1389888"/>
            <a:ext cx="365760" cy="365760"/>
          </a:xfrm>
          <a:prstGeom prst="ellipse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3913632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913632" y="1828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Recette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913632" y="2148840"/>
            <a:ext cx="1261872" cy="256032"/>
          </a:xfrm>
          <a:prstGeom prst="roundRect">
            <a:avLst>
              <a:gd fmla="val 17857" name="adj"/>
            </a:avLst>
          </a:prstGeom>
          <a:solidFill>
            <a:srgbClr val="EFE8CF"/>
          </a:solidFill>
          <a:ln cap="flat" cmpd="sng" w="12700">
            <a:solidFill>
              <a:srgbClr val="EFE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3913632" y="21488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alibri"/>
                <a:ea typeface="Calibri"/>
                <a:cs typeface="Calibri"/>
                <a:sym typeface="Calibri"/>
              </a:rPr>
              <a:t>Python (assert)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3913632" y="2514600"/>
            <a:ext cx="1280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Chaque indicateur comparé au PDF officiel.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31536" y="1280160"/>
            <a:ext cx="148132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541264" y="1389888"/>
            <a:ext cx="365760" cy="365760"/>
          </a:xfrm>
          <a:prstGeom prst="ellipse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5541264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5541264" y="1828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Base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541264" y="2148840"/>
            <a:ext cx="1261872" cy="256032"/>
          </a:xfrm>
          <a:prstGeom prst="roundRect">
            <a:avLst>
              <a:gd fmla="val 17857" name="adj"/>
            </a:avLst>
          </a:prstGeom>
          <a:solidFill>
            <a:srgbClr val="EFE8CF"/>
          </a:solidFill>
          <a:ln cap="flat" cmpd="sng" w="12700">
            <a:solidFill>
              <a:srgbClr val="EFE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5541264" y="21488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alibri"/>
                <a:ea typeface="Calibri"/>
                <a:cs typeface="Calibri"/>
                <a:sym typeface="Calibri"/>
              </a:rPr>
              <a:t>SQLite + 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5541264" y="2514600"/>
            <a:ext cx="1280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Schéma en étoile, clés étrangères, 7 tables.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059168" y="1280160"/>
            <a:ext cx="1481328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7168896" y="1389888"/>
            <a:ext cx="365760" cy="365760"/>
          </a:xfrm>
          <a:prstGeom prst="ellipse">
            <a:avLst/>
          </a:prstGeom>
          <a:solidFill>
            <a:srgbClr val="A8892B"/>
          </a:solidFill>
          <a:ln cap="flat" cmpd="sng" w="1270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7168896" y="1389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168896" y="1828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Restitution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168896" y="2148840"/>
            <a:ext cx="1261872" cy="256032"/>
          </a:xfrm>
          <a:prstGeom prst="roundRect">
            <a:avLst>
              <a:gd fmla="val 17857" name="adj"/>
            </a:avLst>
          </a:prstGeom>
          <a:solidFill>
            <a:srgbClr val="EFE8CF"/>
          </a:solidFill>
          <a:ln cap="flat" cmpd="sng" w="12700">
            <a:solidFill>
              <a:srgbClr val="EFE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168896" y="21488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7168896" y="2514600"/>
            <a:ext cx="1280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Export CSV, modèle, 3 pages de dashboard.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548640" y="365760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Bibliothèques Python : pandas (lecture et transformation), pathlib (chemins), sqlite3 (base), subprocess (orchestration), shutil (sauvegarde).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48640" y="4114800"/>
            <a:ext cx="8138160" cy="54864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 txBox="1"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8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9D58A"/>
                </a:solidFill>
                <a:latin typeface="Calibri"/>
                <a:ea typeface="Calibri"/>
                <a:cs typeface="Calibri"/>
                <a:sym typeface="Calibri"/>
              </a:rPr>
              <a:t>10 scripts, 1 pipeline :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sauvegarde de la base avant chaque reconstruction, retour arrière automatique en cas d’échec.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LE CODE, EXTRAITS DES SCRIPTS 01 ET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Extraction et contrôles qualité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48640" y="1280160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01_extraction_agreste.py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lecture Excel, format long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8640" y="1554480"/>
            <a:ext cx="4023360" cy="2377440"/>
          </a:xfrm>
          <a:prstGeom prst="rect">
            <a:avLst/>
          </a:prstGeom>
          <a:solidFill>
            <a:srgbClr val="1E2A22"/>
          </a:solidFill>
          <a:ln cap="flat" cmpd="sng" w="12700">
            <a:solidFill>
              <a:srgbClr val="1E2A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640080" y="1609344"/>
            <a:ext cx="384048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df = pd.read_excel(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fichiers[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sheet_name=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"Fig 1_GRAPH abattages"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header=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annee, ligne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[(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2025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), (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2026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)]: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mois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valeur = df.iat[ligne, mois +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pd.notna(valeur):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    donnees.append({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f"{annee}-{mois:02d}-01"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"Annee"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 annee, 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"Mois"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 mois,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"Volume_millions_tetes"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 float(valeur)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    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4663440" y="1280160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02_controles_qualite.py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contrôles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663440" y="1554480"/>
            <a:ext cx="4023360" cy="2377440"/>
          </a:xfrm>
          <a:prstGeom prst="rect">
            <a:avLst/>
          </a:prstGeom>
          <a:solidFill>
            <a:srgbClr val="1E2A22"/>
          </a:solidFill>
          <a:ln cap="flat" cmpd="sng" w="12700">
            <a:solidFill>
              <a:srgbClr val="1E2A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4754880" y="1609344"/>
            <a:ext cx="384048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doublons = df.duplicated(subset=[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]).sum()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volumes_invalides =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df[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"Volume_millions_tetes"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 &lt;=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).sum()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dates_incoherentes = 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(df[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].dt.year != df[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"Annee"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]) 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(df[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].dt.month != df[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"Mois"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).sum()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(len(df) ==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df.isnull().sum().sum() ==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doublons ==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volumes_invalides ==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9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dates_incoherentes == </a:t>
            </a:r>
            <a:r>
              <a:rPr b="0" i="0" lang="en-US" sz="9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0" i="0" lang="en-US" sz="9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"CONTROLES QUALITE : OK"</a:t>
            </a:r>
            <a:r>
              <a:rPr b="0" i="0" lang="en-US" sz="9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4114800"/>
            <a:ext cx="8138160" cy="54864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8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9D58A"/>
                </a:solidFill>
                <a:latin typeface="Calibri"/>
                <a:ea typeface="Calibri"/>
                <a:cs typeface="Calibri"/>
                <a:sym typeface="Calibri"/>
              </a:rPr>
              <a:t>À retenir :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boucle sur 2025 et 2026, 12 mois chacun, ligne et colonne de l’Excel ciblées ; 19 mois attendus (12 + 7).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LE CODE, EXTRAITS DES SCRIPTS 04 ET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Recette : chaque chiffre validé vs le PDF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48640" y="128016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04 et 08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assertions automatiques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1554480"/>
            <a:ext cx="4754880" cy="2514600"/>
          </a:xfrm>
          <a:prstGeom prst="rect">
            <a:avLst/>
          </a:prstGeom>
          <a:solidFill>
            <a:srgbClr val="1E2A22"/>
          </a:solidFill>
          <a:ln cap="flat" cmpd="sng" w="12700">
            <a:solidFill>
              <a:srgbClr val="1E2A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640080" y="1609344"/>
            <a:ext cx="4572000" cy="2404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8A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04 : somme des espèces = total officiel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total_officiel = float(df.iat[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total_calcule = especes[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"Volume_millions_tetes"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].sum()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abs(total_calcule - total_officiel) &gt;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000001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ValueError(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"Écart détecté avec le total officiel"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8A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08 : prix, comparaison avec le 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evolution_annuelle = 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juillet_2026 / juillet_2025 -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 *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round(evolution_mensuelle,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 ==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round(evolution_annuelle,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 ==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round(evolution_historique,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 == 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F0A97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548640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{5C1D7E50-7D38-45A1-ADB6-44B27BF939E2}</a:tableStyleId>
              </a:tblPr>
              <a:tblGrid>
                <a:gridCol w="1097275"/>
                <a:gridCol w="1143000"/>
                <a:gridCol w="9601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Indicateur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D2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Abattages juil.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72,98 M ; -1,56 %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73,0 M ; -1,6 %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Consommation juin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189,44 ; +3,85 %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189,4 ; +3,9 %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Prix, 1 mois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+1,69 %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Prix, 1 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+2,18 %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Prix vs moy. 5 ans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arrondi à +1,6 %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Somme des espèces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total mensuel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73,0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4"/>
          <p:cNvSpPr/>
          <p:nvPr/>
        </p:nvSpPr>
        <p:spPr>
          <a:xfrm>
            <a:off x="548640" y="4160520"/>
            <a:ext cx="8138160" cy="54864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731520" y="4160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8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9D58A"/>
                </a:solidFill>
                <a:latin typeface="Calibri"/>
                <a:ea typeface="Calibri"/>
                <a:cs typeface="Calibri"/>
                <a:sym typeface="Calibri"/>
              </a:rPr>
              <a:t>Principe :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un seul chiffre diffère du PDF, le script s’arrête. Je peux donc affirmer que le dashboard est juste.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LE CODE, EXTRAITS DES SCRIPTS 05 ET 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Entrepôt SQL : un schéma en étoile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1371600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548640" y="13716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F3D2B"/>
                </a:solidFill>
                <a:latin typeface="Consolas"/>
                <a:ea typeface="Consolas"/>
                <a:cs typeface="Consolas"/>
                <a:sym typeface="Consolas"/>
              </a:rPr>
              <a:t>FAIT_ABATTAGES_MENSUELS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011680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548640" y="20116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F3D2B"/>
                </a:solidFill>
                <a:latin typeface="Consolas"/>
                <a:ea typeface="Consolas"/>
                <a:cs typeface="Consolas"/>
                <a:sym typeface="Consolas"/>
              </a:rPr>
              <a:t>FAIT_CONSOMMATION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2651760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548640" y="26517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F3D2B"/>
                </a:solidFill>
                <a:latin typeface="Consolas"/>
                <a:ea typeface="Consolas"/>
                <a:cs typeface="Consolas"/>
                <a:sym typeface="Consolas"/>
              </a:rPr>
              <a:t>FAIT_INDICE_PRIX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3291840"/>
            <a:ext cx="19202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48640" y="32918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F3D2B"/>
                </a:solidFill>
                <a:latin typeface="Consolas"/>
                <a:ea typeface="Consolas"/>
                <a:cs typeface="Consolas"/>
                <a:sym typeface="Consolas"/>
              </a:rPr>
              <a:t>FAIT_ABATTAGES_ESPECES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926080" y="2103120"/>
            <a:ext cx="1371600" cy="4572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2926080" y="2103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DIM_DATE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926080" y="3291840"/>
            <a:ext cx="1371600" cy="4572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2926080" y="3291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DIM_ESPECE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2468880" y="1600200"/>
            <a:ext cx="457200" cy="731520"/>
          </a:xfrm>
          <a:prstGeom prst="straightConnector1">
            <a:avLst/>
          </a:prstGeom>
          <a:noFill/>
          <a:ln cap="flat" cmpd="sng" w="1905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5"/>
          <p:cNvCxnSpPr/>
          <p:nvPr/>
        </p:nvCxnSpPr>
        <p:spPr>
          <a:xfrm>
            <a:off x="2468880" y="2240280"/>
            <a:ext cx="457200" cy="91440"/>
          </a:xfrm>
          <a:prstGeom prst="straightConnector1">
            <a:avLst/>
          </a:prstGeom>
          <a:noFill/>
          <a:ln cap="flat" cmpd="sng" w="1905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5"/>
          <p:cNvCxnSpPr/>
          <p:nvPr/>
        </p:nvCxnSpPr>
        <p:spPr>
          <a:xfrm flipH="1" rot="10800000">
            <a:off x="2468880" y="2331720"/>
            <a:ext cx="457200" cy="548640"/>
          </a:xfrm>
          <a:prstGeom prst="straightConnector1">
            <a:avLst/>
          </a:prstGeom>
          <a:noFill/>
          <a:ln cap="flat" cmpd="sng" w="1905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5"/>
          <p:cNvCxnSpPr/>
          <p:nvPr/>
        </p:nvCxnSpPr>
        <p:spPr>
          <a:xfrm flipH="1" rot="10800000">
            <a:off x="2468880" y="2331720"/>
            <a:ext cx="457200" cy="1188720"/>
          </a:xfrm>
          <a:prstGeom prst="straightConnector1">
            <a:avLst/>
          </a:prstGeom>
          <a:noFill/>
          <a:ln cap="flat" cmpd="sng" w="1905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5"/>
          <p:cNvCxnSpPr/>
          <p:nvPr/>
        </p:nvCxnSpPr>
        <p:spPr>
          <a:xfrm>
            <a:off x="2468880" y="3520440"/>
            <a:ext cx="457200" cy="914"/>
          </a:xfrm>
          <a:prstGeom prst="straightConnector1">
            <a:avLst/>
          </a:prstGeom>
          <a:noFill/>
          <a:ln cap="flat" cmpd="sng" w="19050">
            <a:solidFill>
              <a:srgbClr val="A88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548640" y="3977640"/>
            <a:ext cx="1920240" cy="365760"/>
          </a:xfrm>
          <a:prstGeom prst="rect">
            <a:avLst/>
          </a:prstGeom>
          <a:solidFill>
            <a:srgbClr val="F0EDE0"/>
          </a:solidFill>
          <a:ln cap="flat" cmpd="sng" w="12700">
            <a:solidFill>
              <a:srgbClr val="A8892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548640" y="3977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REF_PRIX_HISTORIQUE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743200" y="39776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faits (mesures) reliés à 2 dimensions (axes d’analyse) par des clés étrangères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663440" y="1280160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05 et 06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création et requête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1E2A22"/>
          </a:solidFill>
          <a:ln cap="flat" cmpd="sng" w="12700">
            <a:solidFill>
              <a:srgbClr val="1E2A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4754880" y="1609344"/>
            <a:ext cx="3840480" cy="299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FAIT_ABATTAGES_ESPECES 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date_id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espece_id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volume_millions_tetes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evolution_annuelle_pct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evolution_moyenne_pct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PRIMARY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(date_id, espece_id),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FOREIGN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(date_id)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REFERENCES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DIM_DATE(date_id),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FOREIGN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(espece_id)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REFERENCES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DIM_ESPECE(espece_id)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e.nom_espece,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f.volume_millions_tetes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FAIT_ABATTAGES_ESPECES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INNER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DIM_ESPECE 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f.espece_id = e.espece_id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f.date_id = </a:t>
            </a:r>
            <a:r>
              <a:rPr b="0" i="0" lang="en-US" sz="85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'2026-07-01'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f.volume_millions_tetes </a:t>
            </a:r>
            <a:r>
              <a:rPr b="1" i="0" lang="en-US" sz="85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DESC</a:t>
            </a:r>
            <a:r>
              <a:rPr b="0" i="0" lang="en-US" sz="85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LE CODE, EXTRAIT DU SCRIPT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Pipeline : sauvegarde et retour arrière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548640" y="1280160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11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A611B"/>
                </a:solidFill>
                <a:latin typeface="Consolas"/>
                <a:ea typeface="Consolas"/>
                <a:cs typeface="Consolas"/>
                <a:sym typeface="Consolas"/>
              </a:rPr>
              <a:t>10_pipeline_complet.py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orchestration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1554480"/>
            <a:ext cx="4937760" cy="3017520"/>
          </a:xfrm>
          <a:prstGeom prst="rect">
            <a:avLst/>
          </a:prstGeom>
          <a:solidFill>
            <a:srgbClr val="1E2A22"/>
          </a:solidFill>
          <a:ln cap="flat" cmpd="sng" w="12700">
            <a:solidFill>
              <a:srgbClr val="1E2A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640080" y="1609344"/>
            <a:ext cx="475488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executer(nom):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subprocess.run(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[sys.executable, str(scripts / nom)],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    cwd=projet, check=</a:t>
            </a: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shutil.copy2(base, sauvegarde)    </a:t>
            </a: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sauvegarde horodatée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base.unlink()                     </a:t>
            </a: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reconstruction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executer(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"05_creation_base_sql.py"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executer(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"06_analyse_sql.py"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executer(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"09_integration_sql.py"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nombre == attendu      </a:t>
            </a: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7 tables contrôlées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3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Exception: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0" i="0" lang="en-US" sz="1000" u="none" cap="none" strike="noStrike">
                <a:solidFill>
                  <a:srgbClr val="E9D58A"/>
                </a:solidFill>
                <a:latin typeface="Consolas"/>
                <a:ea typeface="Consolas"/>
                <a:cs typeface="Consolas"/>
                <a:sym typeface="Consolas"/>
              </a:rPr>
              <a:t>"ECHEC DU PIPELINE SQL"</a:t>
            </a: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base.unlink()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shutil.copy2(sauvegarde, base)  </a:t>
            </a:r>
            <a:r>
              <a:rPr b="0" i="1" lang="en-US" sz="1000" u="none" cap="none" strike="noStrike">
                <a:solidFill>
                  <a:srgbClr val="8FA88A"/>
                </a:solidFill>
                <a:latin typeface="Consolas"/>
                <a:ea typeface="Consolas"/>
                <a:cs typeface="Consolas"/>
                <a:sym typeface="Consolas"/>
              </a:rPr>
              <a:t># retour arrière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E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D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000" u="none" cap="none" strike="noStrike">
                <a:solidFill>
                  <a:srgbClr val="9FD3A8"/>
                </a:solidFill>
                <a:latin typeface="Consolas"/>
                <a:ea typeface="Consolas"/>
                <a:cs typeface="Consolas"/>
                <a:sym typeface="Consolas"/>
              </a:rPr>
              <a:t>raise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Pourquoi c’est robuste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5760720" y="164592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check=True : si un script échoue, tout s’arrête.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Sauvegarde horodatée avant chaque reconstruction.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Retour arrière automatique de l’ancienne 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Contrôle final : clés étrangères et lignes des 7 tables.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Export des 7 CSV pour Power BI.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TABLEAU DE BORD, PAGE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Vue d’ensemble : un marché sous tension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91113246552_Capture_d_écran_2026-10-04_à_12_15_58.png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598932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6766560" y="1234440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6858000" y="13075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53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8553D"/>
                </a:solidFill>
                <a:latin typeface="Georgia"/>
                <a:ea typeface="Georgia"/>
                <a:cs typeface="Georgia"/>
                <a:sym typeface="Georgia"/>
              </a:rPr>
              <a:t>-1,6 %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858000" y="1787652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abattages, juil. 2026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766560" y="2359152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6858000" y="2432304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+3,9 %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6858000" y="291236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consommation, juin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766560" y="3483864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6858000" y="3557016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+2,2 %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6858000" y="4037076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indice des prix, juil. vs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TABLEAU DE BORD, PAGE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Abattages par espèce, juillet 2026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91113246552_Capture_d_écran_2026-10-04_à_12_16_30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598932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6766560" y="1234440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6858000" y="13075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63,4 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6858000" y="1787652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poulets, 87 % du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766560" y="2359152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6858000" y="2432304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+23,4 %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6858000" y="291236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canards à rôtir, reprise après influenza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766560" y="3483864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6858000" y="3557016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53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8553D"/>
                </a:solidFill>
                <a:latin typeface="Georgia"/>
                <a:ea typeface="Georgia"/>
                <a:cs typeface="Georgia"/>
                <a:sym typeface="Georgia"/>
              </a:rPr>
              <a:t>-30 %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6858000" y="4037076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oies : 7 000 têtes, à relativiser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D2B"/>
          </a:solidFill>
          <a:ln cap="flat" cmpd="sng" w="12700">
            <a:solidFill>
              <a:srgbClr val="1F3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548640" y="20116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8892B"/>
                </a:solidFill>
                <a:latin typeface="Calibri"/>
                <a:ea typeface="Calibri"/>
                <a:cs typeface="Calibri"/>
                <a:sym typeface="Calibri"/>
              </a:rPr>
              <a:t>TABLEAU DE BORD, PAGE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548640" y="621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Marché et tendances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Smart BI Volaille  |  Source : Agreste, Infos Rapides n°106 (septembre 2026)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91113246552_Capture_d_écran_2026-10-04_à_12_17_52.png"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598932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6766560" y="1234440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6858000" y="13075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3D2B"/>
                </a:solidFill>
                <a:latin typeface="Georgia"/>
                <a:ea typeface="Georgia"/>
                <a:cs typeface="Georgia"/>
                <a:sym typeface="Georgia"/>
              </a:rPr>
              <a:t>126,7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858000" y="1787652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indice IPPAP, plus haut de la période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766560" y="2359152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6858000" y="2432304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8C2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4C8C2B"/>
                </a:solidFill>
                <a:latin typeface="Georgia"/>
                <a:ea typeface="Georgia"/>
                <a:cs typeface="Georgia"/>
                <a:sym typeface="Georgia"/>
              </a:rPr>
              <a:t>189,4 kt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6858000" y="2912364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consommation de juin, plus haut de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766560" y="3483864"/>
            <a:ext cx="1920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6858000" y="3557016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92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A8892B"/>
                </a:solidFill>
                <a:latin typeface="Georgia"/>
                <a:ea typeface="Georgia"/>
                <a:cs typeface="Georgia"/>
                <a:sym typeface="Georgia"/>
              </a:rPr>
              <a:t>Table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6858000" y="4037076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synthèse mensuelle 2025 /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2026-10-10T14:17:09Z</dcterms:created>
  <dc:creator>PptxGenJS</dc:creator>
</cp:coreProperties>
</file>